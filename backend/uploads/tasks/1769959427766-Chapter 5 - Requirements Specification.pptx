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14"/>
  </p:notesMasterIdLst>
  <p:handoutMasterIdLst>
    <p:handoutMasterId r:id="rId15"/>
  </p:handoutMasterIdLst>
  <p:sldIdLst>
    <p:sldId id="398" r:id="rId2"/>
    <p:sldId id="395" r:id="rId3"/>
    <p:sldId id="426" r:id="rId4"/>
    <p:sldId id="419" r:id="rId5"/>
    <p:sldId id="420" r:id="rId6"/>
    <p:sldId id="421" r:id="rId7"/>
    <p:sldId id="422" r:id="rId8"/>
    <p:sldId id="423" r:id="rId9"/>
    <p:sldId id="427" r:id="rId10"/>
    <p:sldId id="428" r:id="rId11"/>
    <p:sldId id="416" r:id="rId12"/>
    <p:sldId id="401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1974" y="-90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F9CAA-7222-4E5E-AF37-C0C8F2D345DC}" type="datetimeFigureOut">
              <a:rPr lang="en-GB" smtClean="0"/>
              <a:t>16/05/2023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03EB86-A6A9-4E83-A38B-5CAA11B79B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682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A8709-2D77-416F-B8FC-A7211389CE2F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F0E30-2DE0-41E0-9942-35990377F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53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9F0E30-2DE0-41E0-9942-35990377F17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27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DF468-18CC-44AF-BD47-FABE196594B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01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DF468-18CC-44AF-BD47-FABE196594B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01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DF468-18CC-44AF-BD47-FABE196594B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10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8DFA4A7D-EFFB-4D2E-B679-997591E18367}" type="datetime1">
              <a:rPr lang="en-US" smtClean="0">
                <a:solidFill>
                  <a:srgbClr val="DBF5F9">
                    <a:shade val="90000"/>
                  </a:srgbClr>
                </a:solidFill>
              </a:rPr>
              <a:t>5/16/2023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DBF5F9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fld id="{3C7DE4F9-52B2-4640-8360-A207F52007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11" name="Picture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CD9195-BD08-4475-9A5F-2AC81DA7AB37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5/16/2023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4617B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1D77-6405-4384-8A4C-DCE5959F80A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>
              <a:defRPr/>
            </a:pPr>
            <a:fld id="{942CDD33-5ACC-432E-9A63-CA77AA178EF4}" type="datetime1">
              <a:rPr lang="en-US" smtClean="0">
                <a:solidFill>
                  <a:srgbClr val="DBF5F9">
                    <a:shade val="90000"/>
                  </a:srgbClr>
                </a:solidFill>
              </a:rPr>
              <a:t>5/16/2023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DBF5F9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pPr>
              <a:defRPr/>
            </a:pPr>
            <a:fld id="{8664F7C3-AE13-4043-82B2-B09ABB354F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9" name="Picture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2F0713-66C4-4F9E-871B-694B22437C7B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5/16/2023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4617B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B40003-774E-4117-9AEA-CF7C88F8FCD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77CA5B-F275-40CB-B7CC-98A3B060A27C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5/16/2023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4617B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FB330-83FF-48AA-8CE7-9805439F6A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BCE234-6E1C-402F-83D6-6B05636DC98D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5/16/2023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4617B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C4C45B-DDF9-4839-B333-0AA6AD0D6F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1ABAC2-1DF8-49B3-8C91-98928100A5B7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5/16/2023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4617B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FBF5B9-C1B8-435E-B64F-6622100C4A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2B93F-08DA-45F1-BE87-CC44A0DC8B91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5/16/2023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4617B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517036-8B9B-49FD-8FB4-1615458648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52D443-524E-4622-B5FE-E5255D4F0DC0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5/16/2023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4617B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90E9D-6E0C-4BEE-9B47-4B8A7915177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B3F510-BC8E-4F2E-B1B4-646F5FC82C6C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5/16/2023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4617B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280941-9991-4E79-93C7-4CA7C5F770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0445D4-8F02-41E8-8C8B-9160BA02B003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5/16/2023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4617B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AE01B-95BA-4078-BCE1-0D698E3D75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136EAB6-C226-47FA-AC0E-655DE24E8753}" type="datetime1">
              <a:rPr lang="en-US" smtClean="0"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rPr>
              <a:t>5/16/2023</a:t>
            </a:fld>
            <a:endParaRPr lang="en-US">
              <a:solidFill>
                <a:srgbClr val="04617B">
                  <a:shade val="90000"/>
                </a:srgbClr>
              </a:solidFill>
              <a:latin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rPr>
              <a:t>By: Yoseph B.</a:t>
            </a:r>
            <a:endParaRPr lang="en-US">
              <a:solidFill>
                <a:srgbClr val="04617B">
                  <a:shade val="90000"/>
                </a:srgbClr>
              </a:solidFill>
              <a:latin typeface="Times New Roman" pitchFamily="18" charset="0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D8ACCDE-7C6D-4591-B4DC-39452FAE72A9}" type="slidenum">
              <a:rPr lang="en-US" smtClean="0"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ransition spd="slow">
    <p:wipe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1828800"/>
            <a:ext cx="8458200" cy="28194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Chapter Five </a:t>
            </a:r>
            <a:br>
              <a:rPr lang="en-US" sz="4400" b="1" dirty="0" smtClean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</a:br>
            <a:r>
              <a:rPr lang="en-US" sz="44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/>
            </a:r>
            <a:br>
              <a:rPr lang="en-US" sz="4400" dirty="0" smtClean="0">
                <a:latin typeface="Ebrima" pitchFamily="2" charset="0"/>
                <a:ea typeface="Ebrima" pitchFamily="2" charset="0"/>
                <a:cs typeface="Ebrima" pitchFamily="2" charset="0"/>
              </a:rPr>
            </a:br>
            <a:r>
              <a:rPr lang="en-US" sz="4400" b="1" dirty="0" smtClean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Requirements Specification</a:t>
            </a:r>
            <a:endParaRPr lang="en-GB" sz="4400" b="1" dirty="0">
              <a:solidFill>
                <a:srgbClr val="0070C0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1D77-6405-4384-8A4C-DCE5959F80A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pic>
        <p:nvPicPr>
          <p:cNvPr id="1026" name="Picture 2" descr="C:\Users\user\Desktop\Emerging Tech\Screenshot 2021-10-15 at 10-34-22 Adama Science and Technology University - Adama Science and Technology Universit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8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By: </a:t>
            </a:r>
            <a:r>
              <a:rPr lang="en-US" dirty="0" err="1" smtClean="0">
                <a:solidFill>
                  <a:srgbClr val="04617B">
                    <a:shade val="90000"/>
                  </a:srgbClr>
                </a:solidFill>
              </a:rPr>
              <a:t>Yoseph</a:t>
            </a: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 B.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92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en-US" sz="4000" b="1" dirty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Topics </a:t>
            </a:r>
            <a:r>
              <a:rPr lang="en-US" sz="4000" b="1" smtClean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to be covered</a:t>
            </a:r>
            <a:endParaRPr lang="en-US" sz="4000" b="1" dirty="0">
              <a:solidFill>
                <a:srgbClr val="0070C0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1D77-6405-4384-8A4C-DCE5959F80A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24047221"/>
              </p:ext>
            </p:extLst>
          </p:nvPr>
        </p:nvGraphicFramePr>
        <p:xfrm>
          <a:off x="381000" y="1371600"/>
          <a:ext cx="8534400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8090"/>
                <a:gridCol w="1106310"/>
              </a:tblGrid>
              <a:tr h="4648200">
                <a:tc>
                  <a:txBody>
                    <a:bodyPr/>
                    <a:lstStyle/>
                    <a:p>
                      <a:pPr marL="914400" lvl="1" indent="-457200" algn="l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kumimoji="0" lang="en-US" sz="2400" b="0" kern="1200" dirty="0" smtClean="0">
                          <a:solidFill>
                            <a:schemeClr val="tx1"/>
                          </a:solidFill>
                          <a:effectLst/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System Definition Document (SDD)</a:t>
                      </a:r>
                    </a:p>
                    <a:p>
                      <a:pPr marL="914400" lvl="1" indent="-457200" algn="l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kumimoji="0" lang="en-US" sz="2400" b="0" kern="1200" dirty="0" smtClean="0">
                          <a:solidFill>
                            <a:schemeClr val="tx1"/>
                          </a:solidFill>
                          <a:effectLst/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System Requirements Specification </a:t>
                      </a:r>
                      <a:r>
                        <a:rPr kumimoji="0" lang="en-US" sz="2400" b="0" kern="1200" dirty="0" smtClean="0">
                          <a:solidFill>
                            <a:schemeClr val="tx1"/>
                          </a:solidFill>
                          <a:effectLst/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(SyRS)</a:t>
                      </a:r>
                      <a:endParaRPr kumimoji="0" lang="en-US" sz="2400" b="0" kern="1200" dirty="0" smtClean="0">
                        <a:solidFill>
                          <a:schemeClr val="tx1"/>
                        </a:solidFill>
                        <a:effectLst/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  <a:p>
                      <a:pPr marL="914400" lvl="1" indent="-457200" algn="l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kumimoji="0" lang="en-US" sz="2400" b="0" kern="1200" dirty="0" smtClean="0">
                          <a:solidFill>
                            <a:schemeClr val="tx1"/>
                          </a:solidFill>
                          <a:effectLst/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Software Requirements </a:t>
                      </a:r>
                      <a:r>
                        <a:rPr kumimoji="0" lang="en-US" sz="2400" b="0" kern="1200" dirty="0" smtClean="0">
                          <a:solidFill>
                            <a:schemeClr val="tx1"/>
                          </a:solidFill>
                          <a:effectLst/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Specification (SRS)</a:t>
                      </a:r>
                      <a:endParaRPr kumimoji="0" lang="en-US" sz="2400" b="0" kern="1200" dirty="0" smtClean="0">
                        <a:solidFill>
                          <a:schemeClr val="tx1"/>
                        </a:solidFill>
                        <a:effectLst/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  <a:p>
                      <a:pPr marL="914400" lvl="1" indent="-457200" algn="l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kumimoji="0" lang="en-US" sz="2400" b="0" kern="1200" dirty="0" smtClean="0">
                          <a:solidFill>
                            <a:schemeClr val="tx1"/>
                          </a:solidFill>
                          <a:effectLst/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Importance of SRS</a:t>
                      </a:r>
                    </a:p>
                  </a:txBody>
                  <a:tcPr marL="62768" marR="62768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algn="just">
                        <a:buFont typeface="Arial" pitchFamily="34" charset="0"/>
                        <a:buChar char="•"/>
                      </a:pPr>
                      <a:endParaRPr lang="en-US" sz="2400" b="0" dirty="0" smtClean="0">
                        <a:solidFill>
                          <a:schemeClr val="tx1"/>
                        </a:solidFill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  <a:p>
                      <a:pPr marL="1195388" indent="-457200" algn="just">
                        <a:buFont typeface="Arial" pitchFamily="34" charset="0"/>
                        <a:buChar char="•"/>
                      </a:pPr>
                      <a:endParaRPr lang="en-US" sz="2400" b="0" dirty="0">
                        <a:solidFill>
                          <a:schemeClr val="tx1"/>
                        </a:solidFill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</a:txBody>
                  <a:tcPr marL="62768" marR="62768" marT="34290" marB="34290">
                    <a:noFill/>
                  </a:tcPr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 smtClean="0">
                <a:solidFill>
                  <a:srgbClr val="04617B">
                    <a:shade val="90000"/>
                  </a:srgbClr>
                </a:solidFill>
              </a:rPr>
              <a:t>By: Yoseph B.</a:t>
            </a: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17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Introduction to Software Req. Specification</a:t>
            </a:r>
            <a:endParaRPr lang="en-GB" b="1" dirty="0">
              <a:solidFill>
                <a:srgbClr val="0070C0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By: </a:t>
            </a:r>
            <a:r>
              <a:rPr lang="en-US" dirty="0" err="1" smtClean="0">
                <a:solidFill>
                  <a:srgbClr val="04617B">
                    <a:shade val="90000"/>
                  </a:srgbClr>
                </a:solidFill>
              </a:rPr>
              <a:t>Yoseph</a:t>
            </a: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 B.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1D77-6405-4384-8A4C-DCE5959F80A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SRS is a document that outlines the </a:t>
            </a:r>
            <a:r>
              <a:rPr lang="en-US" sz="24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functional and non-functional requirements</a:t>
            </a:r>
            <a:r>
              <a:rPr lang="en-US" sz="24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 of a software system.</a:t>
            </a:r>
          </a:p>
          <a:p>
            <a:pPr marL="0" indent="0" algn="just">
              <a:buNone/>
            </a:pPr>
            <a:endParaRPr lang="en-US" sz="2400" dirty="0" smtClean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algn="just"/>
            <a:r>
              <a:rPr lang="en-US" sz="24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It serves as </a:t>
            </a:r>
            <a:r>
              <a:rPr lang="en-US" sz="24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a blueprint</a:t>
            </a:r>
            <a:r>
              <a:rPr lang="en-US" sz="24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 for the development team, ensuring that everyone involved in the project has a clear understanding of what needs to be built. </a:t>
            </a:r>
          </a:p>
          <a:p>
            <a:pPr algn="just"/>
            <a:endParaRPr lang="en-US" sz="2400" dirty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algn="just"/>
            <a:r>
              <a:rPr lang="en-US" sz="24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SRS typically includes information about the </a:t>
            </a:r>
            <a:r>
              <a:rPr lang="en-US" sz="24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system’s purpose</a:t>
            </a:r>
            <a:r>
              <a:rPr lang="en-US" sz="24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, </a:t>
            </a:r>
            <a:r>
              <a:rPr lang="en-US" sz="24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functionality</a:t>
            </a:r>
            <a:r>
              <a:rPr lang="en-US" sz="24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, </a:t>
            </a:r>
            <a:r>
              <a:rPr lang="en-US" sz="24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performance</a:t>
            </a:r>
            <a:r>
              <a:rPr lang="en-US" sz="24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, and </a:t>
            </a:r>
            <a:r>
              <a:rPr lang="en-US" sz="24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design</a:t>
            </a:r>
            <a:r>
              <a:rPr lang="en-US" sz="24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constraints</a:t>
            </a:r>
            <a:r>
              <a:rPr lang="en-US" sz="24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. </a:t>
            </a:r>
            <a:endParaRPr lang="en-GB" sz="2400" dirty="0"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85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Cont’d…</a:t>
            </a:r>
            <a:endParaRPr lang="en-US" sz="4400" b="1" dirty="0">
              <a:solidFill>
                <a:srgbClr val="0070C0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By: </a:t>
            </a:r>
            <a:r>
              <a:rPr lang="en-US" dirty="0" err="1" smtClean="0">
                <a:solidFill>
                  <a:srgbClr val="04617B">
                    <a:shade val="90000"/>
                  </a:srgbClr>
                </a:solidFill>
              </a:rPr>
              <a:t>Yoseph</a:t>
            </a: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 B.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1D77-6405-4384-8A4C-DCE5959F80A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229600" cy="4861560"/>
          </a:xfrm>
        </p:spPr>
        <p:txBody>
          <a:bodyPr>
            <a:normAutofit lnSpcReduction="10000"/>
          </a:bodyPr>
          <a:lstStyle/>
          <a:p>
            <a:pPr marL="274320" lvl="1" algn="just">
              <a:spcBef>
                <a:spcPts val="600"/>
              </a:spcBef>
              <a:buClr>
                <a:schemeClr val="accent1"/>
              </a:buClr>
            </a:pPr>
            <a:r>
              <a:rPr lang="en-US" sz="2400" dirty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It also outlines the </a:t>
            </a:r>
            <a:r>
              <a:rPr lang="en-US" sz="2400" dirty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user requirements</a:t>
            </a:r>
            <a:r>
              <a:rPr lang="en-US" sz="2400" dirty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, such as how the system should behave and what features it should have</a:t>
            </a:r>
            <a:r>
              <a:rPr lang="en-US" sz="24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.</a:t>
            </a:r>
          </a:p>
          <a:p>
            <a:pPr marL="274320" lvl="1" algn="just">
              <a:spcBef>
                <a:spcPts val="600"/>
              </a:spcBef>
              <a:buClr>
                <a:schemeClr val="accent1"/>
              </a:buClr>
            </a:pPr>
            <a:endParaRPr lang="en-GB" sz="2400" dirty="0">
              <a:solidFill>
                <a:schemeClr val="tx1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marL="274320" lvl="1" algn="just">
              <a:spcBef>
                <a:spcPts val="600"/>
              </a:spcBef>
              <a:buClr>
                <a:schemeClr val="accent1"/>
              </a:buClr>
            </a:pPr>
            <a:r>
              <a:rPr lang="en-US" sz="24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For </a:t>
            </a:r>
            <a:r>
              <a:rPr lang="en-US" sz="2400" dirty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complex </a:t>
            </a:r>
            <a:r>
              <a:rPr lang="en-US" sz="24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systems, particularly </a:t>
            </a:r>
            <a:r>
              <a:rPr lang="en-US" sz="2400" dirty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those involving </a:t>
            </a:r>
            <a:r>
              <a:rPr lang="en-US" sz="24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large non-software components</a:t>
            </a:r>
            <a:r>
              <a:rPr lang="en-US" sz="2400" dirty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, </a:t>
            </a:r>
            <a:r>
              <a:rPr lang="en-US" sz="24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three different types </a:t>
            </a:r>
            <a:r>
              <a:rPr lang="en-US" sz="2400" dirty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of documents are produced: </a:t>
            </a:r>
            <a:endParaRPr lang="en-US" sz="2400" dirty="0" smtClean="0">
              <a:solidFill>
                <a:schemeClr val="tx1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marL="274320" lvl="1" algn="just">
              <a:spcBef>
                <a:spcPts val="600"/>
              </a:spcBef>
              <a:buClr>
                <a:schemeClr val="accent1"/>
              </a:buClr>
            </a:pPr>
            <a:endParaRPr lang="en-US" sz="2800" dirty="0" smtClean="0">
              <a:solidFill>
                <a:schemeClr val="tx1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System definition, 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</a:t>
            </a:r>
            <a:r>
              <a:rPr lang="en-US" sz="20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ystem </a:t>
            </a:r>
            <a:r>
              <a:rPr lang="en-US" sz="2000" dirty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requirements, and </a:t>
            </a:r>
            <a:endParaRPr lang="en-US" sz="2000" dirty="0" smtClean="0">
              <a:solidFill>
                <a:schemeClr val="tx1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Software requirements. </a:t>
            </a:r>
            <a:endParaRPr lang="en-US" sz="2000" dirty="0" smtClean="0">
              <a:solidFill>
                <a:schemeClr val="tx1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lvl="1" algn="just"/>
            <a:endParaRPr lang="en-US" sz="2000" dirty="0" smtClean="0">
              <a:solidFill>
                <a:schemeClr val="tx1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marL="280988" lvl="1" indent="-280988" algn="just"/>
            <a:r>
              <a:rPr lang="en-US" sz="24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For </a:t>
            </a:r>
            <a:r>
              <a:rPr lang="en-US" sz="2400" dirty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simple software products, only the third of these is required</a:t>
            </a:r>
            <a:r>
              <a:rPr lang="en-US" sz="24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045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4400" b="1" dirty="0" smtClean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System Definition Document </a:t>
            </a:r>
            <a:endParaRPr lang="en-GB" sz="3600" b="1" dirty="0">
              <a:solidFill>
                <a:srgbClr val="0070C0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B7645-ED4E-4AE8-BBA7-4FDCA96084B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SDD is an important component of the SRS. It provides a detailed description of the system </a:t>
            </a:r>
          </a:p>
          <a:p>
            <a:pPr lvl="1" algn="just"/>
            <a:r>
              <a:rPr lang="en-US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Architecture </a:t>
            </a:r>
          </a:p>
          <a:p>
            <a:pPr lvl="1" algn="just"/>
            <a:r>
              <a:rPr lang="en-US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Objective</a:t>
            </a:r>
          </a:p>
          <a:p>
            <a:pPr lvl="1" algn="just"/>
            <a:r>
              <a:rPr lang="en-US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Design </a:t>
            </a:r>
          </a:p>
          <a:p>
            <a:pPr lvl="1" algn="just"/>
            <a:r>
              <a:rPr lang="en-US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Implementation approach, and</a:t>
            </a:r>
          </a:p>
          <a:p>
            <a:pPr lvl="1" algn="just"/>
            <a:r>
              <a:rPr lang="en-US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Target environment. </a:t>
            </a:r>
          </a:p>
          <a:p>
            <a:pPr algn="just"/>
            <a:endParaRPr lang="en-US" dirty="0" smtClean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algn="just"/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It defines the </a:t>
            </a:r>
            <a:r>
              <a:rPr lang="en-US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high-level system requirements </a:t>
            </a:r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from the domain perspective.</a:t>
            </a:r>
          </a:p>
          <a:p>
            <a:pPr algn="just"/>
            <a:endParaRPr lang="en-US" dirty="0" smtClean="0"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By: </a:t>
            </a:r>
            <a:r>
              <a:rPr lang="en-US" dirty="0" err="1" smtClean="0">
                <a:solidFill>
                  <a:srgbClr val="04617B">
                    <a:shade val="90000"/>
                  </a:srgbClr>
                </a:solidFill>
              </a:rPr>
              <a:t>Yoseph</a:t>
            </a: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 B.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88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Cont’d…</a:t>
            </a:r>
            <a:endParaRPr lang="en-GB" sz="4400" b="1" dirty="0">
              <a:solidFill>
                <a:srgbClr val="0070C0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71600"/>
            <a:ext cx="8327161" cy="4953000"/>
          </a:xfrm>
          <a:noFill/>
          <a:ln/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SDD also outlines the system’s </a:t>
            </a:r>
            <a:r>
              <a:rPr lang="en-US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Data model</a:t>
            </a:r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, including the types of data that will be stored and how they will be organized. </a:t>
            </a:r>
          </a:p>
          <a:p>
            <a:pPr algn="just"/>
            <a:endParaRPr lang="en-US" sz="2600" dirty="0" smtClean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algn="just"/>
            <a:endParaRPr lang="en-US" sz="2600" dirty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algn="just"/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This document helps </a:t>
            </a:r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to ensure </a:t>
            </a:r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that all stakeholders have a  clear understanding of the system’s overall structure and how it will be implemented.</a:t>
            </a:r>
            <a:endParaRPr lang="en-GB" dirty="0"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B7645-ED4E-4AE8-BBA7-4FDCA96084B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By: </a:t>
            </a:r>
            <a:r>
              <a:rPr lang="en-US" dirty="0" err="1" smtClean="0">
                <a:solidFill>
                  <a:srgbClr val="04617B">
                    <a:shade val="90000"/>
                  </a:srgbClr>
                </a:solidFill>
              </a:rPr>
              <a:t>Yoseph</a:t>
            </a: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 B.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56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020762"/>
          </a:xfrm>
          <a:noFill/>
          <a:ln/>
        </p:spPr>
        <p:txBody>
          <a:bodyPr>
            <a:noAutofit/>
          </a:bodyPr>
          <a:lstStyle/>
          <a:p>
            <a:r>
              <a:rPr lang="en-US" sz="3800" b="1" dirty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System </a:t>
            </a:r>
            <a:r>
              <a:rPr lang="en-US" sz="3800" b="1" dirty="0" smtClean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Requirements Specification</a:t>
            </a:r>
            <a:endParaRPr lang="en-GB" sz="3800" b="1" dirty="0">
              <a:solidFill>
                <a:srgbClr val="0070C0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19200"/>
            <a:ext cx="8153400" cy="5029200"/>
          </a:xfrm>
          <a:noFill/>
          <a:ln/>
        </p:spPr>
        <p:txBody>
          <a:bodyPr>
            <a:normAutofit lnSpcReduction="10000"/>
          </a:bodyPr>
          <a:lstStyle/>
          <a:p>
            <a:pPr algn="just"/>
            <a:r>
              <a:rPr lang="en-US" sz="26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SyRS </a:t>
            </a:r>
            <a:r>
              <a:rPr lang="en-US" sz="26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is a </a:t>
            </a:r>
            <a:r>
              <a:rPr lang="en-US" sz="26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more detailed version of the SDD</a:t>
            </a:r>
            <a:r>
              <a:rPr lang="en-US" sz="26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. It provides a comprehensive overview of the </a:t>
            </a:r>
          </a:p>
          <a:p>
            <a:pPr lvl="1" algn="just"/>
            <a:r>
              <a:rPr lang="en-US" sz="2300" b="1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system’s functional and non-functional requirements, </a:t>
            </a:r>
          </a:p>
          <a:p>
            <a:pPr lvl="1" algn="just"/>
            <a:r>
              <a:rPr lang="en-US" sz="2300" b="1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any design constraints or limitations. </a:t>
            </a:r>
            <a:endParaRPr lang="en-GB" b="1" dirty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lvl="1" algn="just"/>
            <a:endParaRPr lang="en-US" sz="2600" dirty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marL="284163" lvl="1" indent="-284163" algn="just"/>
            <a:r>
              <a:rPr lang="en-GB" sz="2600" dirty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System requirements relate to the system as a whole. Like </a:t>
            </a:r>
            <a:r>
              <a:rPr lang="en-GB" sz="2600" dirty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hardware, software, processes, documentation and so on</a:t>
            </a:r>
            <a:r>
              <a:rPr lang="en-GB" sz="26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.</a:t>
            </a:r>
          </a:p>
          <a:p>
            <a:pPr marL="284163" lvl="1" indent="-284163" algn="just"/>
            <a:endParaRPr lang="en-US" sz="2600" dirty="0">
              <a:solidFill>
                <a:srgbClr val="FF0000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marL="284163" lvl="1" indent="-284163" algn="just"/>
            <a:r>
              <a:rPr lang="en-US" sz="26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The SyRS </a:t>
            </a:r>
            <a:r>
              <a:rPr lang="en-US" sz="26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typically includes information about the system’s </a:t>
            </a:r>
            <a:r>
              <a:rPr lang="en-US" sz="26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user interface</a:t>
            </a:r>
            <a:r>
              <a:rPr lang="en-US" sz="26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, </a:t>
            </a:r>
            <a:r>
              <a:rPr lang="en-US" sz="26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data storage &amp; retrieval</a:t>
            </a:r>
            <a:r>
              <a:rPr lang="en-US" sz="26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, </a:t>
            </a:r>
            <a:r>
              <a:rPr lang="en-US" sz="26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security features</a:t>
            </a:r>
            <a:r>
              <a:rPr lang="en-US" sz="26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, and </a:t>
            </a:r>
            <a:r>
              <a:rPr lang="en-US" sz="26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performance</a:t>
            </a:r>
            <a:r>
              <a:rPr lang="en-US" sz="26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 </a:t>
            </a:r>
            <a:r>
              <a:rPr lang="en-US" sz="26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requirements</a:t>
            </a:r>
            <a:r>
              <a:rPr lang="en-US" sz="2600" dirty="0" smtClean="0">
                <a:solidFill>
                  <a:schemeClr val="tx1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. </a:t>
            </a:r>
          </a:p>
          <a:p>
            <a:pPr marL="284163" lvl="1" indent="-284163" algn="just"/>
            <a:endParaRPr lang="en-US" sz="2600" dirty="0" smtClean="0">
              <a:solidFill>
                <a:schemeClr val="tx1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B7645-ED4E-4AE8-BBA7-4FDCA96084B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By: </a:t>
            </a:r>
            <a:r>
              <a:rPr lang="en-US" dirty="0" err="1" smtClean="0">
                <a:solidFill>
                  <a:srgbClr val="04617B">
                    <a:shade val="90000"/>
                  </a:srgbClr>
                </a:solidFill>
              </a:rPr>
              <a:t>Yoseph</a:t>
            </a: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 B.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39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Software Requirements Specification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By: </a:t>
            </a:r>
            <a:r>
              <a:rPr lang="en-US" dirty="0" err="1" smtClean="0">
                <a:solidFill>
                  <a:srgbClr val="04617B">
                    <a:shade val="90000"/>
                  </a:srgbClr>
                </a:solidFill>
              </a:rPr>
              <a:t>Yoseph</a:t>
            </a: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 B.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1D77-6405-4384-8A4C-DCE5959F80A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029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This SRS is a </a:t>
            </a:r>
            <a:r>
              <a:rPr lang="en-US" sz="2800" dirty="0">
                <a:latin typeface="Ebrima" pitchFamily="2" charset="0"/>
                <a:ea typeface="Ebrima" pitchFamily="2" charset="0"/>
                <a:cs typeface="Ebrima" pitchFamily="2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more specific version of the </a:t>
            </a:r>
            <a:r>
              <a:rPr lang="en-US" sz="2800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SyRS </a:t>
            </a:r>
            <a:r>
              <a:rPr lang="en-US" sz="28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that focuses on the software aspects of the system.</a:t>
            </a:r>
          </a:p>
          <a:p>
            <a:pPr algn="just"/>
            <a:endParaRPr lang="en-US" sz="2800" dirty="0" smtClean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algn="just"/>
            <a:r>
              <a:rPr lang="en-US" sz="28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Provides </a:t>
            </a:r>
            <a:r>
              <a:rPr lang="en-US" sz="2800" dirty="0">
                <a:latin typeface="Ebrima" pitchFamily="2" charset="0"/>
                <a:ea typeface="Ebrima" pitchFamily="2" charset="0"/>
                <a:cs typeface="Ebrima" pitchFamily="2" charset="0"/>
              </a:rPr>
              <a:t>a realistic basis for estimating product </a:t>
            </a:r>
            <a:r>
              <a:rPr lang="en-US" sz="2800" dirty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costs</a:t>
            </a:r>
            <a:r>
              <a:rPr lang="en-US" sz="2800" dirty="0">
                <a:latin typeface="Ebrima" pitchFamily="2" charset="0"/>
                <a:ea typeface="Ebrima" pitchFamily="2" charset="0"/>
                <a:cs typeface="Ebrima" pitchFamily="2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risks</a:t>
            </a:r>
            <a:r>
              <a:rPr lang="en-US" sz="2800" dirty="0">
                <a:latin typeface="Ebrima" pitchFamily="2" charset="0"/>
                <a:ea typeface="Ebrima" pitchFamily="2" charset="0"/>
                <a:cs typeface="Ebrima" pitchFamily="2" charset="0"/>
              </a:rPr>
              <a:t>, and </a:t>
            </a:r>
            <a:r>
              <a:rPr lang="en-US" sz="2800" dirty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schedules</a:t>
            </a:r>
            <a:r>
              <a:rPr lang="en-US" sz="2800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.</a:t>
            </a:r>
          </a:p>
          <a:p>
            <a:pPr marL="0" indent="0" algn="just">
              <a:buNone/>
            </a:pPr>
            <a:endParaRPr lang="en-US" sz="2800" dirty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algn="just"/>
            <a:r>
              <a:rPr lang="en-US" sz="2800" dirty="0">
                <a:latin typeface="Ebrima" pitchFamily="2" charset="0"/>
                <a:ea typeface="Ebrima" pitchFamily="2" charset="0"/>
                <a:cs typeface="Ebrima" pitchFamily="2" charset="0"/>
              </a:rPr>
              <a:t>Organizations can also use a software requirements specification document as the basis for developing effective </a:t>
            </a:r>
            <a:r>
              <a:rPr lang="en-US" sz="2800" dirty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verification</a:t>
            </a:r>
            <a:r>
              <a:rPr lang="en-US" sz="2800" dirty="0">
                <a:latin typeface="Ebrima" pitchFamily="2" charset="0"/>
                <a:ea typeface="Ebrima" pitchFamily="2" charset="0"/>
                <a:cs typeface="Ebrima" pitchFamily="2" charset="0"/>
              </a:rPr>
              <a:t> and </a:t>
            </a:r>
            <a:r>
              <a:rPr lang="en-US" sz="2800" dirty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validation</a:t>
            </a:r>
            <a:r>
              <a:rPr lang="en-US" sz="2800" dirty="0">
                <a:latin typeface="Ebrima" pitchFamily="2" charset="0"/>
                <a:ea typeface="Ebrima" pitchFamily="2" charset="0"/>
                <a:cs typeface="Ebrima" pitchFamily="2" charset="0"/>
              </a:rPr>
              <a:t> plans.</a:t>
            </a:r>
          </a:p>
          <a:p>
            <a:pPr algn="just"/>
            <a:endParaRPr lang="en-GB" sz="2800" dirty="0"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96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kumimoji="0" lang="en-US" sz="4400" b="1" kern="1200" dirty="0" smtClean="0">
                <a:solidFill>
                  <a:srgbClr val="0070C0"/>
                </a:solidFill>
                <a:effectLst/>
                <a:latin typeface="Ebrima" pitchFamily="2" charset="0"/>
                <a:ea typeface="Ebrima" pitchFamily="2" charset="0"/>
                <a:cs typeface="Ebrima" pitchFamily="2" charset="0"/>
              </a:rPr>
              <a:t>Importance of SRS</a:t>
            </a:r>
            <a:endParaRPr lang="en-GB" sz="3200" b="1" dirty="0">
              <a:solidFill>
                <a:srgbClr val="0070C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By: </a:t>
            </a:r>
            <a:r>
              <a:rPr lang="en-US" dirty="0" err="1" smtClean="0">
                <a:solidFill>
                  <a:srgbClr val="04617B">
                    <a:shade val="90000"/>
                  </a:srgbClr>
                </a:solidFill>
              </a:rPr>
              <a:t>Yoseph</a:t>
            </a: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 B.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1D77-6405-4384-8A4C-DCE5959F80A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Having well defined SRS is critical to the success of any software development project. </a:t>
            </a:r>
          </a:p>
          <a:p>
            <a:pPr algn="just"/>
            <a:endParaRPr lang="en-US" dirty="0" smtClean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algn="just"/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It also ensures all stakeholders have a clear understanding of the system’s requirements, reducing the risk of miscommunication and misunderstanding. </a:t>
            </a:r>
          </a:p>
          <a:p>
            <a:pPr algn="just"/>
            <a:endParaRPr lang="en-US" dirty="0" smtClean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algn="just"/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Leads to a more efficient development process, fewer bugs and errors, and ultimately, a higher quality product. </a:t>
            </a:r>
            <a:endParaRPr lang="en-US" dirty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67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Conclusion </a:t>
            </a:r>
            <a:endParaRPr lang="en-GB" b="1" dirty="0">
              <a:solidFill>
                <a:srgbClr val="0070C0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By: </a:t>
            </a:r>
            <a:r>
              <a:rPr lang="en-US" dirty="0" err="1" smtClean="0">
                <a:solidFill>
                  <a:srgbClr val="04617B">
                    <a:shade val="90000"/>
                  </a:srgbClr>
                </a:solidFill>
              </a:rPr>
              <a:t>Yoseph</a:t>
            </a: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 B.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1D77-6405-4384-8A4C-DCE5959F80A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In summary, software requirements specification documents plays a crucial role in the software development process.</a:t>
            </a:r>
          </a:p>
          <a:p>
            <a:pPr algn="just"/>
            <a:endParaRPr lang="en-US" dirty="0" smtClean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algn="just"/>
            <a:r>
              <a:rPr lang="en-US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Provides a clear set of guild lines for development team and stakeholders. </a:t>
            </a:r>
          </a:p>
          <a:p>
            <a:pPr algn="just"/>
            <a:endParaRPr lang="en-US" dirty="0" smtClean="0">
              <a:latin typeface="Ebrima" pitchFamily="2" charset="0"/>
              <a:ea typeface="Ebrima" pitchFamily="2" charset="0"/>
              <a:cs typeface="Ebrima" pitchFamily="2" charset="0"/>
            </a:endParaRPr>
          </a:p>
          <a:p>
            <a:pPr algn="just"/>
            <a:r>
              <a:rPr lang="en-GB" dirty="0" smtClean="0">
                <a:latin typeface="Ebrima" pitchFamily="2" charset="0"/>
                <a:ea typeface="Ebrima" pitchFamily="2" charset="0"/>
                <a:cs typeface="Ebrima" pitchFamily="2" charset="0"/>
              </a:rPr>
              <a:t>In </a:t>
            </a:r>
            <a:r>
              <a:rPr lang="en-GB" dirty="0">
                <a:latin typeface="Ebrima" pitchFamily="2" charset="0"/>
                <a:ea typeface="Ebrima" pitchFamily="2" charset="0"/>
                <a:cs typeface="Ebrima" pitchFamily="2" charset="0"/>
              </a:rPr>
              <a:t>short, system requirements deal with the hardware and software needed to run an application, while software requirements deal with the features and functionality that the application must provide.</a:t>
            </a:r>
            <a:endParaRPr lang="en-GB" dirty="0"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93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Reading </a:t>
            </a:r>
            <a:r>
              <a:rPr lang="en-US" sz="3600" b="1" dirty="0" smtClean="0">
                <a:solidFill>
                  <a:srgbClr val="FF000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Assignment</a:t>
            </a:r>
            <a:endParaRPr lang="en-US" sz="3600" b="1" dirty="0">
              <a:solidFill>
                <a:srgbClr val="FF0000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1D77-6405-4384-8A4C-DCE5959F80A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130507719"/>
              </p:ext>
            </p:extLst>
          </p:nvPr>
        </p:nvGraphicFramePr>
        <p:xfrm>
          <a:off x="457200" y="2209800"/>
          <a:ext cx="8229600" cy="3015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362200"/>
                <a:gridCol w="2209800"/>
              </a:tblGrid>
              <a:tr h="7299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Chapter III: Requirements</a:t>
                      </a:r>
                      <a:r>
                        <a:rPr kumimoji="0" lang="en-US" sz="1800" b="1" kern="1200" baseline="0" dirty="0" smtClean="0">
                          <a:solidFill>
                            <a:schemeClr val="lt1"/>
                          </a:solidFill>
                          <a:effectLst/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 Elicitation </a:t>
                      </a:r>
                      <a:endParaRPr kumimoji="0" lang="en-US" sz="1800" b="1" kern="1200" dirty="0" smtClean="0">
                        <a:solidFill>
                          <a:schemeClr val="lt1"/>
                        </a:solidFill>
                        <a:effectLst/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Sommerville - 2011</a:t>
                      </a:r>
                      <a:endParaRPr lang="en-US" dirty="0"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Wiegers –</a:t>
                      </a:r>
                      <a:r>
                        <a:rPr lang="en-US" baseline="0" dirty="0" smtClean="0"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 2003</a:t>
                      </a:r>
                    </a:p>
                  </a:txBody>
                  <a:tcPr anchor="ctr"/>
                </a:tc>
              </a:tr>
              <a:tr h="7299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5.1. System Definition Document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indent="0" algn="ctr"/>
                      <a:endParaRPr lang="en-US" dirty="0" smtClean="0"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  <a:p>
                      <a:pPr marL="0" indent="0" algn="ctr"/>
                      <a:r>
                        <a:rPr lang="en-US" dirty="0" smtClean="0"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Chapter 4 – section 2</a:t>
                      </a:r>
                    </a:p>
                    <a:p>
                      <a:pPr marL="0" indent="0" algn="ctr"/>
                      <a:endParaRPr lang="en-US" dirty="0"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Chapter 4 – section 3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Chapter 12 – section 2 to 5.</a:t>
                      </a:r>
                    </a:p>
                    <a:p>
                      <a:pPr marL="0" indent="0" algn="ctr"/>
                      <a:endParaRPr lang="en-US" dirty="0"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Chapter 10</a:t>
                      </a:r>
                      <a:endParaRPr lang="en-US" dirty="0"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</a:txBody>
                  <a:tcPr anchor="ctr"/>
                </a:tc>
              </a:tr>
              <a:tr h="7299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5.2. System Requirements Specification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</a:txBody>
                  <a:tcPr anchor="ctr"/>
                </a:tc>
              </a:tr>
              <a:tr h="7299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Ebrima" pitchFamily="2" charset="0"/>
                          <a:ea typeface="Ebrima" pitchFamily="2" charset="0"/>
                          <a:cs typeface="Ebrima" pitchFamily="2" charset="0"/>
                        </a:rPr>
                        <a:t>5.3. Software Requirements Specification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Ebrima" pitchFamily="2" charset="0"/>
                        <a:ea typeface="Ebrima" pitchFamily="2" charset="0"/>
                        <a:cs typeface="Ebrima" pitchFamily="2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By: </a:t>
            </a:r>
            <a:r>
              <a:rPr lang="en-US" dirty="0" err="1" smtClean="0">
                <a:solidFill>
                  <a:srgbClr val="04617B">
                    <a:shade val="90000"/>
                  </a:srgbClr>
                </a:solidFill>
              </a:rPr>
              <a:t>Yoseph</a:t>
            </a: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 B.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40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766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END OF CHAPTER </a:t>
            </a:r>
            <a:r>
              <a:rPr lang="en-US" sz="4400" b="1" dirty="0" smtClean="0">
                <a:solidFill>
                  <a:srgbClr val="0070C0"/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FIVE</a:t>
            </a:r>
            <a:endParaRPr lang="en-GB" sz="4400" b="1" dirty="0">
              <a:solidFill>
                <a:srgbClr val="0070C0"/>
              </a:solidFill>
              <a:latin typeface="Ebrima" pitchFamily="2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1D77-6405-4384-8A4C-DCE5959F80A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1026" name="Picture 2" descr="C:\Users\user\Desktop\Emerging Tech\Screenshot 2021-10-15 at 10-34-22 Adama Science and Technology University - Adama Science and Technology Universit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8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By: </a:t>
            </a:r>
            <a:r>
              <a:rPr lang="en-US" dirty="0" err="1" smtClean="0">
                <a:solidFill>
                  <a:srgbClr val="04617B">
                    <a:shade val="90000"/>
                  </a:srgbClr>
                </a:solidFill>
              </a:rPr>
              <a:t>Yoseph</a:t>
            </a:r>
            <a:r>
              <a:rPr lang="en-US" dirty="0" smtClean="0">
                <a:solidFill>
                  <a:srgbClr val="04617B">
                    <a:shade val="90000"/>
                  </a:srgbClr>
                </a:solidFill>
              </a:rPr>
              <a:t> B.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19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2930</TotalTime>
  <Words>627</Words>
  <Application>Microsoft Office PowerPoint</Application>
  <PresentationFormat>On-screen Show (4:3)</PresentationFormat>
  <Paragraphs>105</Paragraphs>
  <Slides>12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Origin</vt:lpstr>
      <vt:lpstr>Chapter Five   Requirements Specification</vt:lpstr>
      <vt:lpstr>Topics to be covered</vt:lpstr>
      <vt:lpstr>Introduction to Software Req. Specification</vt:lpstr>
      <vt:lpstr>Cont’d…</vt:lpstr>
      <vt:lpstr>System Definition Document </vt:lpstr>
      <vt:lpstr>Cont’d…</vt:lpstr>
      <vt:lpstr>System Requirements Specification</vt:lpstr>
      <vt:lpstr>Software Requirements Specification</vt:lpstr>
      <vt:lpstr>Importance of SRS</vt:lpstr>
      <vt:lpstr>Conclusion </vt:lpstr>
      <vt:lpstr>Reading Assignment</vt:lpstr>
      <vt:lpstr>END OF CHAPTER FIVE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wende</dc:creator>
  <cp:lastModifiedBy>Windows User</cp:lastModifiedBy>
  <cp:revision>648</cp:revision>
  <cp:lastPrinted>2021-10-26T12:36:35Z</cp:lastPrinted>
  <dcterms:created xsi:type="dcterms:W3CDTF">2019-04-06T14:04:29Z</dcterms:created>
  <dcterms:modified xsi:type="dcterms:W3CDTF">2023-05-16T10:05:09Z</dcterms:modified>
</cp:coreProperties>
</file>